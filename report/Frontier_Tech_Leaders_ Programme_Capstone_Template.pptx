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  <p:embeddedFont>
      <p:font typeface="Helvetica Neue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dqKBieQCrU8VTSfKueKayS1Bj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7.xml"/><Relationship Id="rId33" Type="http://schemas.openxmlformats.org/officeDocument/2006/relationships/font" Target="fonts/HelveticaNeueLight-bold.fntdata"/><Relationship Id="rId10" Type="http://schemas.openxmlformats.org/officeDocument/2006/relationships/slide" Target="slides/slide6.xml"/><Relationship Id="rId32" Type="http://schemas.openxmlformats.org/officeDocument/2006/relationships/font" Target="fonts/HelveticaNeueLight-regular.fntdata"/><Relationship Id="rId13" Type="http://schemas.openxmlformats.org/officeDocument/2006/relationships/slide" Target="slides/slide9.xml"/><Relationship Id="rId35" Type="http://schemas.openxmlformats.org/officeDocument/2006/relationships/font" Target="fonts/HelveticaNeueLight-boldItalic.fntdata"/><Relationship Id="rId12" Type="http://schemas.openxmlformats.org/officeDocument/2006/relationships/slide" Target="slides/slide8.xml"/><Relationship Id="rId34" Type="http://schemas.openxmlformats.org/officeDocument/2006/relationships/font" Target="fonts/HelveticaNeueLight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002a5faa7_1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b002a5faa7_1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002a5faa7_1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g3b002a5faa7_1_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002a5faa7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g3b002a5faa7_1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002a5faa7_1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g3b002a5faa7_1_1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043017793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g3b043017793_1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002a5faa7_1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5" name="Google Shape;475;g3b002a5faa7_1_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002a5faa7_1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g3b002a5faa7_1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0583c252b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g3b0583c252b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" name="Google Shape;11;p1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>
  <p:cSld name="3_Content with Caption">
    <p:bg>
      <p:bgPr>
        <a:solidFill>
          <a:srgbClr val="2B255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6" name="Google Shape;2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7" name="Google Shape;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8" name="Google Shape;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9" name="Google Shape;2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icture with Caption">
  <p:cSld name="3_Picture with Caption">
    <p:bg>
      <p:bgPr>
        <a:solidFill>
          <a:srgbClr val="2B255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35" name="Google Shape;3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36" name="Google Shape;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37" name="Google Shape;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38" name="Google Shape;3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5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25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25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ue background">
  <p:cSld name="3_Blue background">
    <p:bg>
      <p:bgPr>
        <a:solidFill>
          <a:srgbClr val="2B255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rgbClr val="2B255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46" name="Google Shape;4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47" name="Google Shape;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48" name="Google Shape;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49" name="Google Shape;4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7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solidFill>
          <a:srgbClr val="2B255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54" name="Google Shape;5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55" name="Google Shape;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56" name="Google Shape;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7" name="Google Shape;5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8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rgbClr val="2B255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62" name="Google Shape;6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63" name="Google Shape;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64" name="Google Shape;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65" name="Google Shape;6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bg>
      <p:bgPr>
        <a:solidFill>
          <a:srgbClr val="2B255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0" name="Google Shape;7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71" name="Google Shape;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72" name="Google Shape;7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73" name="Google Shape;7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0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solidFill>
          <a:srgbClr val="2B255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78" name="Google Shape;7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79" name="Google Shape;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80" name="Google Shape;8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81" name="Google Shape;8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1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solidFill>
          <a:srgbClr val="2B255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85" name="Google Shape;8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86" name="Google Shape;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87" name="Google Shape;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88" name="Google Shape;8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bg>
      <p:bgPr>
        <a:solidFill>
          <a:srgbClr val="2B255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91" name="Google Shape;9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92" name="Google Shape;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93" name="Google Shape;9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94" name="Google Shape;9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3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3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bg>
      <p:bgPr>
        <a:solidFill>
          <a:srgbClr val="2B255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00" name="Google Shape;10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01" name="Google Shape;1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02" name="Google Shape;1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03" name="Google Shape;10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34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34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ue background">
  <p:cSld name="2_Blue background">
    <p:bg>
      <p:bgPr>
        <a:solidFill>
          <a:srgbClr val="2B255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5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2B255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11" name="Google Shape;11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12" name="Google Shape;1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13" name="Google Shape;11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14" name="Google Shape;1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6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36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rgbClr val="2B255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19" name="Google Shape;11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20" name="Google Shape;12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21" name="Google Shape;12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22" name="Google Shape;12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7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p37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3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solidFill>
          <a:srgbClr val="2B255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27" name="Google Shape;12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28" name="Google Shape;1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29" name="Google Shape;12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30" name="Google Shape;13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p38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solidFill>
          <a:srgbClr val="2B255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35" name="Google Shape;13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36" name="Google Shape;1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37" name="Google Shape;13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38" name="Google Shape;13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9"/>
          <p:cNvSpPr txBox="1"/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" type="body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solidFill>
          <a:srgbClr val="2B255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43" name="Google Shape;14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44" name="Google Shape;1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45" name="Google Shape;14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46" name="Google Shape;14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0"/>
          <p:cNvSpPr txBox="1"/>
          <p:nvPr>
            <p:ph idx="1" type="body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40"/>
          <p:cNvSpPr txBox="1"/>
          <p:nvPr>
            <p:ph idx="2" type="body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0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rgbClr val="2B255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52" name="Google Shape;15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53" name="Google Shape;1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54" name="Google Shape;15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55" name="Google Shape;15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1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rgbClr val="2B255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59" name="Google Shape;15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60" name="Google Shape;16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61" name="Google Shape;16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62" name="Google Shape;16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bg>
      <p:bgPr>
        <a:solidFill>
          <a:srgbClr val="2B255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65" name="Google Shape;16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66" name="Google Shape;16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67" name="Google Shape;16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68" name="Google Shape;16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3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43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3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bg>
      <p:bgPr>
        <a:solidFill>
          <a:srgbClr val="2B255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74" name="Google Shape;174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75" name="Google Shape;17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76" name="Google Shape;17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77" name="Google Shape;17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79" name="Google Shape;179;p44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44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44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ue background">
  <p:cSld name="1_Blue background">
    <p:bg>
      <p:bgPr>
        <a:solidFill>
          <a:srgbClr val="2B255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5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2B255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85" name="Google Shape;18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86" name="Google Shape;18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87" name="Google Shape;18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88" name="Google Shape;18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6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90" name="Google Shape;190;p46"/>
          <p:cNvSpPr txBox="1"/>
          <p:nvPr>
            <p:ph idx="1" type="body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46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rgbClr val="2B255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193" name="Google Shape;19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94" name="Google Shape;19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195" name="Google Shape;19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196" name="Google Shape;19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7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47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2B255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01" name="Google Shape;201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02" name="Google Shape;20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03" name="Google Shape;20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04" name="Google Shape;204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06" name="Google Shape;206;p48"/>
          <p:cNvSpPr txBox="1"/>
          <p:nvPr>
            <p:ph idx="1" type="body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FE"/>
              </a:buClr>
              <a:buSzPts val="2400"/>
              <a:buFont typeface="Calibri"/>
              <a:buNone/>
              <a:defRPr sz="2400">
                <a:solidFill>
                  <a:srgbClr val="FEFFFE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48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2B255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09" name="Google Shape;20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10" name="Google Shape;21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11" name="Google Shape;21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12" name="Google Shape;21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9"/>
          <p:cNvSpPr txBox="1"/>
          <p:nvPr>
            <p:ph idx="1" type="body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9"/>
          <p:cNvSpPr txBox="1"/>
          <p:nvPr>
            <p:ph idx="2" type="body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9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16" name="Google Shape;216;p49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2B255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18" name="Google Shape;218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19" name="Google Shape;21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20" name="Google Shape;22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21" name="Google Shape;22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0"/>
          <p:cNvSpPr txBox="1"/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50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2B255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25" name="Google Shape;2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26" name="Google Shape;22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27" name="Google Shape;22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28" name="Google Shape;22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1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2B255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31" name="Google Shape;23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32" name="Google Shape;23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33" name="Google Shape;23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34" name="Google Shape;23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52"/>
          <p:cNvSpPr txBox="1"/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36" name="Google Shape;236;p52"/>
          <p:cNvSpPr txBox="1"/>
          <p:nvPr>
            <p:ph idx="1" type="body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52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2B255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6" id="240" name="Google Shape;2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800" y="-360"/>
            <a:ext cx="771056" cy="1172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241" name="Google Shape;2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0438" y="318824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8" id="242" name="Google Shape;24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1163" y="219583"/>
            <a:ext cx="771056" cy="771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43" name="Google Shape;24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4426" y="256850"/>
            <a:ext cx="959441" cy="7337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3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45" name="Google Shape;245;p53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53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53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background">
  <p:cSld name="Blue background">
    <p:bg>
      <p:bgPr>
        <a:solidFill>
          <a:srgbClr val="2B255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4"/>
          <p:cNvSpPr txBox="1"/>
          <p:nvPr>
            <p:ph idx="12" type="sldNum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solidFill>
                <a:srgbClr val="FEFFFE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5"/>
          <p:cNvSpPr txBox="1"/>
          <p:nvPr>
            <p:ph type="title"/>
          </p:nvPr>
        </p:nvSpPr>
        <p:spPr>
          <a:xfrm>
            <a:off x="1039653" y="1153987"/>
            <a:ext cx="10112695" cy="921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1800"/>
              <a:buNone/>
              <a:defRPr/>
            </a:lvl9pPr>
          </a:lstStyle>
          <a:p/>
        </p:txBody>
      </p:sp>
      <p:sp>
        <p:nvSpPr>
          <p:cNvPr id="252" name="Google Shape;252;p55"/>
          <p:cNvSpPr txBox="1"/>
          <p:nvPr>
            <p:ph idx="1" type="body"/>
          </p:nvPr>
        </p:nvSpPr>
        <p:spPr>
          <a:xfrm>
            <a:off x="1039653" y="2087362"/>
            <a:ext cx="4919546" cy="4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55"/>
          <p:cNvSpPr txBox="1"/>
          <p:nvPr>
            <p:ph idx="2" type="body"/>
          </p:nvPr>
        </p:nvSpPr>
        <p:spPr>
          <a:xfrm>
            <a:off x="6232802" y="2087362"/>
            <a:ext cx="4919546" cy="408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55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55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55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837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C83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FEFFF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jp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at a desk using a computer&#10;&#10;Description automatically generated" id="261" name="Google Shape;261;p1"/>
          <p:cNvPicPr preferRelativeResize="0"/>
          <p:nvPr/>
        </p:nvPicPr>
        <p:blipFill rotWithShape="1">
          <a:blip r:embed="rId3">
            <a:alphaModFix/>
          </a:blip>
          <a:srcRect b="35700" l="28" r="5881" t="125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263" name="Google Shape;26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64" name="Google Shape;26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65" name="Google Shape;26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66" name="Google Shape;266;p1"/>
          <p:cNvPicPr preferRelativeResize="0"/>
          <p:nvPr/>
        </p:nvPicPr>
        <p:blipFill rotWithShape="1">
          <a:blip r:embed="rId7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67" name="Google Shape;267;p1"/>
          <p:cNvPicPr preferRelativeResize="0"/>
          <p:nvPr/>
        </p:nvPicPr>
        <p:blipFill rotWithShape="1">
          <a:blip r:embed="rId8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68" name="Google Shape;26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"/>
          <p:cNvSpPr/>
          <p:nvPr/>
        </p:nvSpPr>
        <p:spPr>
          <a:xfrm rot="-180000">
            <a:off x="7960507" y="3797677"/>
            <a:ext cx="2705697" cy="612972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"/>
          <p:cNvSpPr txBox="1"/>
          <p:nvPr/>
        </p:nvSpPr>
        <p:spPr>
          <a:xfrm>
            <a:off x="6093185" y="3184368"/>
            <a:ext cx="43370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 new generation</a:t>
            </a:r>
            <a:endParaRPr b="1" i="0" sz="1800" u="none" cap="none" strike="noStrike">
              <a:solidFill>
                <a:srgbClr val="FEFFFE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 tech specialists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276" name="Google Shape;2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277" name="Google Shape;27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78" name="Google Shape;27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279" name="Google Shape;279;p2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80" name="Google Shape;28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"/>
          <p:cNvSpPr txBox="1"/>
          <p:nvPr/>
        </p:nvSpPr>
        <p:spPr>
          <a:xfrm>
            <a:off x="6865400" y="1566950"/>
            <a:ext cx="52320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Forecasting Disease Outbreaks Using Integrated Mobility and Health Data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"/>
          <p:cNvSpPr txBox="1"/>
          <p:nvPr/>
        </p:nvSpPr>
        <p:spPr>
          <a:xfrm>
            <a:off x="6978225" y="4606150"/>
            <a:ext cx="49281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 D D Htet,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Kyaw Zin Htet, 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Aung Ko Min, 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Naing Lin</a:t>
            </a:r>
            <a:endParaRPr b="1" i="0" sz="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oup 1 (FLT ML BootCamp): Han D D Htet,&#10;Kyaw Zin Htet, &#10;Aung Ko Min, &#10;Naing Lin&#10;" id="283" name="Google Shape;283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5400" y="4162513"/>
            <a:ext cx="4193340" cy="23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"/>
          <p:cNvSpPr txBox="1"/>
          <p:nvPr>
            <p:ph idx="1" type="body"/>
          </p:nvPr>
        </p:nvSpPr>
        <p:spPr>
          <a:xfrm>
            <a:off x="640851" y="2985925"/>
            <a:ext cx="6915000" cy="3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199263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Concept note and implementation plan: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Background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Objectives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SDG Relation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92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Data</a:t>
            </a:r>
            <a:r>
              <a:rPr b="1" i="0" lang="en-US" sz="600">
                <a:solidFill>
                  <a:schemeClr val="dk1"/>
                </a:solidFill>
              </a:rPr>
              <a:t>​: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Data Collection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Exploratory Data Analysis (EDA) and Feature Engineering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92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Model</a:t>
            </a:r>
            <a:r>
              <a:rPr b="1" i="0" lang="en-US" sz="600">
                <a:solidFill>
                  <a:schemeClr val="dk1"/>
                </a:solidFill>
              </a:rPr>
              <a:t>​: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Model </a:t>
            </a:r>
            <a:r>
              <a:rPr b="1" lang="en-US" sz="600">
                <a:solidFill>
                  <a:schemeClr val="dk1"/>
                </a:solidFill>
              </a:rPr>
              <a:t>Selection</a:t>
            </a:r>
            <a:endParaRPr b="1" sz="600">
              <a:solidFill>
                <a:schemeClr val="dk1"/>
              </a:solidFill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lang="en-US" sz="600">
                <a:solidFill>
                  <a:schemeClr val="dk1"/>
                </a:solidFill>
              </a:rPr>
              <a:t>Model Training &amp; Evaluation</a:t>
            </a:r>
            <a:endParaRPr b="1" sz="600">
              <a:solidFill>
                <a:schemeClr val="dk1"/>
              </a:solidFill>
            </a:endParaRPr>
          </a:p>
          <a:p>
            <a:pPr indent="-237362" lvl="1" marL="7239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Model Refinement </a:t>
            </a:r>
            <a:r>
              <a:rPr b="1" lang="en-US" sz="600">
                <a:solidFill>
                  <a:schemeClr val="dk1"/>
                </a:solidFill>
              </a:rPr>
              <a:t>&amp; </a:t>
            </a:r>
            <a:r>
              <a:rPr b="1" i="0" lang="en-US" sz="600" u="none" strike="noStrike">
                <a:solidFill>
                  <a:schemeClr val="dk1"/>
                </a:solidFill>
              </a:rPr>
              <a:t>Testing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endParaRPr b="1" sz="600">
              <a:solidFill>
                <a:schemeClr val="dk1"/>
              </a:solidFill>
            </a:endParaRPr>
          </a:p>
          <a:p>
            <a:pPr indent="-1992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Results</a:t>
            </a:r>
            <a:r>
              <a:rPr b="1" i="0" lang="en-US" sz="600">
                <a:solidFill>
                  <a:schemeClr val="dk1"/>
                </a:solidFill>
              </a:rPr>
              <a:t>​</a:t>
            </a:r>
            <a:r>
              <a:rPr b="1" lang="en-US" sz="600">
                <a:solidFill>
                  <a:schemeClr val="dk1"/>
                </a:solidFill>
              </a:rPr>
              <a:t>: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92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Deployment</a:t>
            </a:r>
            <a:r>
              <a:rPr b="1" i="0" lang="en-US" sz="600">
                <a:solidFill>
                  <a:schemeClr val="dk1"/>
                </a:solidFill>
              </a:rPr>
              <a:t>​: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9263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</a:pPr>
            <a:r>
              <a:rPr b="1" i="0" lang="en-US" sz="600" u="none" strike="noStrike">
                <a:solidFill>
                  <a:schemeClr val="dk1"/>
                </a:solidFill>
              </a:rPr>
              <a:t>Future Work:</a:t>
            </a:r>
            <a:endParaRPr b="1" i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80"/>
              <a:buNone/>
            </a:pPr>
            <a:r>
              <a:t/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 txBox="1"/>
          <p:nvPr>
            <p:ph type="title"/>
          </p:nvPr>
        </p:nvSpPr>
        <p:spPr>
          <a:xfrm>
            <a:off x="640854" y="1166087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Outline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291" name="Google Shape;2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293" name="Google Shape;29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294" name="Google Shape;29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3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3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3"/>
          <p:cNvPicPr preferRelativeResize="0"/>
          <p:nvPr/>
        </p:nvPicPr>
        <p:blipFill rotWithShape="1">
          <a:blip r:embed="rId8">
            <a:alphaModFix/>
          </a:blip>
          <a:srcRect b="5021" l="0" r="0" t="15531"/>
          <a:stretch/>
        </p:blipFill>
        <p:spPr>
          <a:xfrm>
            <a:off x="640850" y="2611350"/>
            <a:ext cx="8432975" cy="37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"/>
          <p:cNvSpPr txBox="1"/>
          <p:nvPr>
            <p:ph idx="1" type="body"/>
          </p:nvPr>
        </p:nvSpPr>
        <p:spPr>
          <a:xfrm>
            <a:off x="698300" y="2994601"/>
            <a:ext cx="8007600" cy="3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400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models (SIR/SEIR) lack real-time behavioral data.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Policy delays often result in uncontrolled infection spikes.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Scope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Predicting airborne disease spread (COVID-19) using mobility patterns.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Analyzed data from Japan,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Data Sources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Mobility: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Google Community Mobility Reports (Retail, Transit, Workplaces).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Policy: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Oxford COVID-19 Government Response Tracker (Stringency Index).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WHO/JHU Global Health Observatory (Daily Cases).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brief background​</a:t>
            </a:r>
            <a:endParaRPr/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Background</a:t>
            </a:r>
            <a:endParaRPr/>
          </a:p>
        </p:txBody>
      </p:sp>
      <p:pic>
        <p:nvPicPr>
          <p:cNvPr descr="Image" id="306" name="Google Shape;3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4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08" name="Google Shape;30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09" name="Google Shape;309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4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4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 india" id="313" name="Google Shape;313;p4"/>
          <p:cNvPicPr preferRelativeResize="0"/>
          <p:nvPr/>
        </p:nvPicPr>
        <p:blipFill rotWithShape="1">
          <a:blip r:embed="rId8">
            <a:alphaModFix/>
          </a:blip>
          <a:srcRect b="0" l="0" r="0" t="17600"/>
          <a:stretch/>
        </p:blipFill>
        <p:spPr>
          <a:xfrm>
            <a:off x="698300" y="2872825"/>
            <a:ext cx="7525242" cy="37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"/>
          <p:cNvSpPr txBox="1"/>
          <p:nvPr>
            <p:ph idx="1" type="body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apid, unpredictable outbreaks (like COVID-19) require effective early warning systems.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 new cases using historical data integration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Outline what the machine learning model aims to achieve</a:t>
            </a:r>
            <a:endParaRPr/>
          </a:p>
        </p:txBody>
      </p:sp>
      <p:sp>
        <p:nvSpPr>
          <p:cNvPr id="319" name="Google Shape;319;p5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5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Objectives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21" name="Google Shape;3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23" name="Google Shape;323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24" name="Google Shape;324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5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5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apid, unpredictable outbreaks (like COVID-19) require effective early warning systems. &#10;&#10;Goal: Predict new cases using historical data integration&#10;Outline what the machine learning model aims to achieve&#10;" id="328" name="Google Shape;328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300" y="2872825"/>
            <a:ext cx="6809166" cy="37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"/>
          <p:cNvSpPr txBox="1"/>
          <p:nvPr>
            <p:ph idx="1" type="body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Directly addresses </a:t>
            </a: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SDG 3: Good Health and Well-Being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government readiness, resource allocation, and saves lives.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de how your project is related with SDGs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SDG Relation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36" name="Google Shape;3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7" name="Google Shape;337;p6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38" name="Google Shape;33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39" name="Google Shape;33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6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6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rectly addresses SDG 3: Good Health and Well-Being. &#10;Improves government readiness, resource allocation, and saves lives.de how your project is related with SDGs&#10;" id="343" name="Google Shape;343;p6"/>
          <p:cNvPicPr preferRelativeResize="0"/>
          <p:nvPr/>
        </p:nvPicPr>
        <p:blipFill rotWithShape="1">
          <a:blip r:embed="rId8">
            <a:alphaModFix/>
          </a:blip>
          <a:srcRect b="0" l="0" r="0" t="20779"/>
          <a:stretch/>
        </p:blipFill>
        <p:spPr>
          <a:xfrm>
            <a:off x="748425" y="2981400"/>
            <a:ext cx="8239050" cy="36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349" name="Google Shape;3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350" name="Google Shape;3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351" name="Google Shape;3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352" name="Google Shape;352;p7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53" name="Google Shape;353;p7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54" name="Google Shape;35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7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 txBox="1"/>
          <p:nvPr>
            <p:ph idx="1" type="body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Data</a:t>
            </a:r>
            <a:endParaRPr/>
          </a:p>
        </p:txBody>
      </p:sp>
      <p:pic>
        <p:nvPicPr>
          <p:cNvPr descr="Image" id="363" name="Google Shape;3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8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65" name="Google Shape;36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66" name="Google Shape;366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8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9" name="Google Shape;369;p8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e integrate three high-value data sources : &#10;&#10;Health (Target): OWID Epidemiological Data. &#10;Behavior (Predictor): Google Mobility Reports. &#10;Context (Predictor): OxCGRT Policy Data (Stringency Index).ource(s) of the dataset​&#10;processing steps during data anling missing values, outliers, etc.&#10;" id="370" name="Google Shape;370;p8"/>
          <p:cNvPicPr preferRelativeResize="0"/>
          <p:nvPr/>
        </p:nvPicPr>
        <p:blipFill rotWithShape="1">
          <a:blip r:embed="rId8">
            <a:alphaModFix/>
          </a:blip>
          <a:srcRect b="8" l="0" r="0" t="10920"/>
          <a:stretch/>
        </p:blipFill>
        <p:spPr>
          <a:xfrm>
            <a:off x="698300" y="3017825"/>
            <a:ext cx="7353251" cy="33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"/>
          <p:cNvSpPr txBox="1"/>
          <p:nvPr>
            <p:ph idx="1" type="body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Focused on time-series transformation for prediction in Japan :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Normalization/Cleaning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Forward-fill for slow metrics).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Time-Lagged Features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(Mobility data from 1-3 weeks prior to predict cases).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Rolling Averages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(7 &amp; 14-day smoothing).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Feature Engineering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78" name="Google Shape;3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10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80" name="Google Shape;38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81" name="Google Shape;381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10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10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cused on time-series transformation for prediction in Japan : &#10;Normalization/Cleaning (e.g., Forward-fill for slow metrics). &#10;Time-Lagged Features (Mobility data from 1-3 weeks prior to predict cases). &#10;Rolling Averages (7 &amp; 14-day smoothing).&#10;" id="385" name="Google Shape;385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301" y="2872825"/>
            <a:ext cx="7756076" cy="37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002a5faa7_1_87"/>
          <p:cNvSpPr txBox="1"/>
          <p:nvPr>
            <p:ph idx="1" type="body"/>
          </p:nvPr>
        </p:nvSpPr>
        <p:spPr>
          <a:xfrm>
            <a:off x="640854" y="2951018"/>
            <a:ext cx="8007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 trends: </a:t>
            </a:r>
            <a:b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Multi-panel views for new_cases, new_deaths, hosp_patients, positive_rate show waves and policy/behavioral shifts.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b002a5faa7_1_87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b002a5faa7_1_87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EDA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393" name="Google Shape;393;g3b002a5faa7_1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g3b002a5faa7_1_87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395" name="Google Shape;395;g3b002a5faa7_1_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396" name="Google Shape;396;g3b002a5faa7_1_8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g3b002a5faa7_1_8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g3b002a5faa7_1_87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9" name="Google Shape;399;g3b002a5faa7_1_87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g3b002a5faa7_1_8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300" y="2951025"/>
            <a:ext cx="7442249" cy="36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002a5faa7_1_103"/>
          <p:cNvSpPr txBox="1"/>
          <p:nvPr>
            <p:ph idx="1" type="body"/>
          </p:nvPr>
        </p:nvSpPr>
        <p:spPr>
          <a:xfrm>
            <a:off x="640852" y="2951025"/>
            <a:ext cx="47277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</a:t>
            </a:r>
            <a:r>
              <a:rPr lang="en-US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Correlations: Full correlation matrix; top correlations with new_cases and positive_rate highlighted.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3b002a5faa7_1_103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b002a5faa7_1_103"/>
          <p:cNvSpPr txBox="1"/>
          <p:nvPr>
            <p:ph type="title"/>
          </p:nvPr>
        </p:nvSpPr>
        <p:spPr>
          <a:xfrm>
            <a:off x="640849" y="1629975"/>
            <a:ext cx="10158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Correlations: 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correlation matrix; top correlations with new_cases and positive_rate highlighted.</a:t>
            </a:r>
            <a:endParaRPr b="1" sz="37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08" name="Google Shape;408;g3b002a5faa7_1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" name="Google Shape;409;g3b002a5faa7_1_10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10" name="Google Shape;410;g3b002a5faa7_1_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11" name="Google Shape;411;g3b002a5faa7_1_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g3b002a5faa7_1_1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g3b002a5faa7_1_103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4" name="Google Shape;414;g3b002a5faa7_1_103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g3b002a5faa7_1_10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4399" y="2677800"/>
            <a:ext cx="4257203" cy="398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421" name="Google Shape;4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422" name="Google Shape;4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23" name="Google Shape;4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24" name="Google Shape;424;p9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5" name="Google Shape;425;p9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6" name="Google Shape;42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9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002a5faa7_1_22"/>
          <p:cNvSpPr txBox="1"/>
          <p:nvPr>
            <p:ph idx="1" type="body"/>
          </p:nvPr>
        </p:nvSpPr>
        <p:spPr>
          <a:xfrm>
            <a:off x="640854" y="2951018"/>
            <a:ext cx="8007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Chosen Model: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LSTM (Long Short-Term Memory). 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LSTM(64) ⇒ Dropout(0.2) ⇒ LSTM(64) ⇒ Dense(1). 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Sequence window (Time-steps) of 30 days.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b002a5faa7_1_22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b002a5faa7_1_22"/>
          <p:cNvSpPr txBox="1"/>
          <p:nvPr>
            <p:ph type="title"/>
          </p:nvPr>
        </p:nvSpPr>
        <p:spPr>
          <a:xfrm>
            <a:off x="640849" y="1629975"/>
            <a:ext cx="96843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Selection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35" name="Google Shape;435;g3b002a5faa7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6" name="Google Shape;436;g3b002a5faa7_1_22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37" name="Google Shape;437;g3b002a5faa7_1_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38" name="Google Shape;438;g3b002a5faa7_1_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g3b002a5faa7_1_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0" name="Google Shape;440;g3b002a5faa7_1_22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1" name="Google Shape;441;g3b002a5faa7_1_22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osen Model: LSTM (Long Short-Term Memory). &#10;Architecture: LSTM(64) ⇒ Dropout(0.2) ⇒ LSTM(64) ⇒ Dense(1). &#10;Input: Sequence window (Time-steps) of 30 days.&#10;" id="442" name="Google Shape;442;g3b002a5faa7_1_22"/>
          <p:cNvPicPr preferRelativeResize="0"/>
          <p:nvPr/>
        </p:nvPicPr>
        <p:blipFill rotWithShape="1">
          <a:blip r:embed="rId8">
            <a:alphaModFix/>
          </a:blip>
          <a:srcRect b="0" l="0" r="0" t="16275"/>
          <a:stretch/>
        </p:blipFill>
        <p:spPr>
          <a:xfrm>
            <a:off x="640850" y="3181200"/>
            <a:ext cx="7756200" cy="31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002a5faa7_1_125"/>
          <p:cNvSpPr txBox="1"/>
          <p:nvPr>
            <p:ph idx="1" type="body"/>
          </p:nvPr>
        </p:nvSpPr>
        <p:spPr>
          <a:xfrm>
            <a:off x="640850" y="2951025"/>
            <a:ext cx="69363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LSTM (Long Short-Term Memory) chosen due to strong performance in time-series forecasting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cleaned using forward-fill to handle missing values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normalized with MinMaxScaler (0–1) for stable training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Optimizer: Adam (0.001 learning rate)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Loss function: Mean Squared Error (MSE)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EarlyStopping and ModelCheckpoint used to prevent overfitting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Evaluated using: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MAE (Mean Absolute Error)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RMSE (Root Mean Squared Error)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R² (Coefficient of Determination)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g3b002a5faa7_1_125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b002a5faa7_1_125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Training &amp; Evaluation 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50" name="Google Shape;450;g3b002a5faa7_1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1" name="Google Shape;451;g3b002a5faa7_1_12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52" name="Google Shape;452;g3b002a5faa7_1_1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53" name="Google Shape;453;g3b002a5faa7_1_1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g3b002a5faa7_1_1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g3b002a5faa7_1_125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6" name="Google Shape;456;g3b002a5faa7_1_125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eaned using forward-fill to handle missing values&#10;Values normalized with MinMaxScaler (0–1) for stable training&#10;Optimizer: Adam (0.001 learning rate)&#10;Loss function: Mean Squared Error (MSE)&#10;EarlyStopping and ModelCheckpoint used to prevent overfitting&#10;Evaluated using:&#10;MAE (Mean Absolute Error)&#10;RMSE (Root Mean Squared Error)&#10;R² (Coefficient of Determination)" id="457" name="Google Shape;457;g3b002a5faa7_1_125"/>
          <p:cNvPicPr preferRelativeResize="0"/>
          <p:nvPr/>
        </p:nvPicPr>
        <p:blipFill rotWithShape="1">
          <a:blip r:embed="rId8">
            <a:alphaModFix/>
          </a:blip>
          <a:srcRect b="0" l="0" r="0" t="15860"/>
          <a:stretch/>
        </p:blipFill>
        <p:spPr>
          <a:xfrm>
            <a:off x="687975" y="2872725"/>
            <a:ext cx="8092599" cy="37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043017793_1_6"/>
          <p:cNvSpPr txBox="1"/>
          <p:nvPr>
            <p:ph idx="1" type="body"/>
          </p:nvPr>
        </p:nvSpPr>
        <p:spPr>
          <a:xfrm>
            <a:off x="640850" y="2951025"/>
            <a:ext cx="69363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Tuning: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 Size Adjustment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Increased input sequence length from 30 → 31 to capture slightly longer temporal patterns.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Regularization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Added a Dropout layer (0.2) after the LSTM to reduce overfitting.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 Optimization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Used a learning rate of 0.001 with ReduceLROnPlateau to adjust LR dynamically during training.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Stopping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Implemented with patience of 10 epochs to prevent overfitting while allowing sufficient training.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b="1"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and Epochs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Set batch = 32 and  epochs = 60 for stable convergence.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time-series nature of dataset, cross-validation was avoided.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train-test split of 80:20 was used.</a:t>
            </a:r>
            <a:r>
              <a:rPr lang="en-US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 was scaled using the same MinMaxScaler fitted on training data.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sequences were created using the same window size (31).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values in the original dataset were forward-filled (ffill) to maintain continuity.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b043017793_1_6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b043017793_1_6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Refinement &amp; Testing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65" name="Google Shape;465;g3b043017793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g3b043017793_1_6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67" name="Google Shape;467;g3b043017793_1_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68" name="Google Shape;468;g3b043017793_1_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g3b043017793_1_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g3b043017793_1_6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g3b043017793_1_6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n you do it as Data Preparation for Testing" id="472" name="Google Shape;472;g3b043017793_1_6"/>
          <p:cNvPicPr preferRelativeResize="0"/>
          <p:nvPr/>
        </p:nvPicPr>
        <p:blipFill rotWithShape="1">
          <a:blip r:embed="rId8">
            <a:alphaModFix/>
          </a:blip>
          <a:srcRect b="0" l="0" r="0" t="10610"/>
          <a:stretch/>
        </p:blipFill>
        <p:spPr>
          <a:xfrm>
            <a:off x="698300" y="2872725"/>
            <a:ext cx="7617588" cy="37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002a5faa7_1_53"/>
          <p:cNvSpPr txBox="1"/>
          <p:nvPr>
            <p:ph idx="1" type="body"/>
          </p:nvPr>
        </p:nvSpPr>
        <p:spPr>
          <a:xfrm>
            <a:off x="640849" y="2951025"/>
            <a:ext cx="93294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Simpler LSTM architectures often generalized better than complex refined models.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Mitigation: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regularization (Dropout, Early Stopping) to ensure stability and prevent overfitting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b002a5faa7_1_53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b002a5faa7_1_53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Development Lessons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480" name="Google Shape;480;g3b002a5faa7_1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1" name="Google Shape;481;g3b002a5faa7_1_53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482" name="Google Shape;482;g3b002a5faa7_1_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483" name="Google Shape;483;g3b002a5faa7_1_5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g3b002a5faa7_1_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g3b002a5faa7_1_53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6" name="Google Shape;486;g3b002a5faa7_1_53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Key Takeaway: &#10;Simpler LSTM architectures often generalized better than complex refined models. &#10;Mitigation: &#10;Applied regularization (Dropout, Early Stopping) to ensure stability and prevent overfitting&#10;" id="487" name="Google Shape;487;g3b002a5faa7_1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8300" y="2872725"/>
            <a:ext cx="8029251" cy="37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493" name="Google Shape;4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494" name="Google Shape;4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95" name="Google Shape;4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496" name="Google Shape;496;p11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97" name="Google Shape;497;p11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98" name="Google Shape;49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1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Result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b002a5faa7_1_38"/>
          <p:cNvSpPr txBox="1"/>
          <p:nvPr>
            <p:ph idx="1" type="body"/>
          </p:nvPr>
        </p:nvSpPr>
        <p:spPr>
          <a:xfrm>
            <a:off x="640854" y="2951018"/>
            <a:ext cx="8007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Metrics of Trained Model (LSTM):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MAE: </a:t>
            </a: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15468.38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b="1"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RMSE:</a:t>
            </a: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21345.14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0.9071</a:t>
            </a: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trends well but struggles with sudden spikes.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captures general outbreak patterns.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Struggles with sharp fluctuations and extreme peaks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highlight the need for improved preprocessing, feature engineering, or model refinement to better handle outbreak volatility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b002a5faa7_1_38"/>
          <p:cNvSpPr/>
          <p:nvPr/>
        </p:nvSpPr>
        <p:spPr>
          <a:xfrm>
            <a:off x="698305" y="2253235"/>
            <a:ext cx="4289400" cy="619500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b002a5faa7_1_38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Evaluation Results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07" name="Google Shape;507;g3b002a5faa7_1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g3b002a5faa7_1_38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09" name="Google Shape;509;g3b002a5faa7_1_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10" name="Google Shape;510;g3b002a5faa7_1_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1" name="Google Shape;511;g3b002a5faa7_1_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g3b002a5faa7_1_38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3" name="Google Shape;513;g3b002a5faa7_1_38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g3b002a5faa7_1_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3550" y="1285450"/>
            <a:ext cx="5919700" cy="29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3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cap="flat" cmpd="sng" w="12700">
            <a:solidFill>
              <a:srgbClr val="4617DE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520" name="Google Shape;5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21" name="Google Shape;5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22" name="Google Shape;52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23" name="Google Shape;523;p13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4" name="Google Shape;524;p13"/>
          <p:cNvPicPr preferRelativeResize="0"/>
          <p:nvPr/>
        </p:nvPicPr>
        <p:blipFill rotWithShape="1">
          <a:blip r:embed="rId7">
            <a:alphaModFix/>
          </a:blip>
          <a:srcRect b="33964" l="1000" r="13538" t="0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5" name="Google Shape;52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80497" y="2051146"/>
            <a:ext cx="4240770" cy="4117181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3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Microsoft YaHei"/>
              <a:buNone/>
            </a:pPr>
            <a:r>
              <a:rPr b="1" i="0" lang="en-US" sz="37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Deployment</a:t>
            </a:r>
            <a:endParaRPr b="1" i="0" sz="18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4"/>
          <p:cNvSpPr txBox="1"/>
          <p:nvPr>
            <p:ph idx="1" type="body"/>
          </p:nvPr>
        </p:nvSpPr>
        <p:spPr>
          <a:xfrm>
            <a:off x="640850" y="2951019"/>
            <a:ext cx="80076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Frontend, Backend &amp; </a:t>
            </a: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 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erialization, serving, and API integration​</a:t>
            </a:r>
            <a:endParaRPr/>
          </a:p>
        </p:txBody>
      </p:sp>
      <p:sp>
        <p:nvSpPr>
          <p:cNvPr id="532" name="Google Shape;532;p14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Deployment</a:t>
            </a:r>
            <a:endParaRPr/>
          </a:p>
        </p:txBody>
      </p:sp>
      <p:pic>
        <p:nvPicPr>
          <p:cNvPr descr="Image" id="534" name="Google Shape;5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14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36" name="Google Shape;53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37" name="Google Shape;53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9" name="Google Shape;539;p14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0" name="Google Shape;540;p14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1" name="Google Shape;54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05600" y="3457174"/>
            <a:ext cx="6980800" cy="26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0583c252b_0_1"/>
          <p:cNvSpPr txBox="1"/>
          <p:nvPr>
            <p:ph type="title"/>
          </p:nvPr>
        </p:nvSpPr>
        <p:spPr>
          <a:xfrm>
            <a:off x="640854" y="1629976"/>
            <a:ext cx="7756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15"/>
              <a:buFont typeface="Microsoft YaHei"/>
              <a:buNone/>
            </a:pPr>
            <a:r>
              <a:rPr b="1" lang="en-US" sz="2215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Model Serialization, Servering &amp; API Integration</a:t>
            </a:r>
            <a:endParaRPr sz="3160"/>
          </a:p>
        </p:txBody>
      </p:sp>
      <p:pic>
        <p:nvPicPr>
          <p:cNvPr descr="Image" id="547" name="Google Shape;547;g3b0583c252b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8" name="Google Shape;548;g3b0583c252b_0_1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49" name="Google Shape;549;g3b0583c252b_0_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50" name="Google Shape;550;g3b0583c252b_0_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1" name="Google Shape;551;g3b0583c252b_0_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g3b0583c252b_0_1"/>
            <p:cNvPicPr preferRelativeResize="0"/>
            <p:nvPr/>
          </p:nvPicPr>
          <p:blipFill rotWithShape="1">
            <a:blip r:embed="rId7">
              <a:alphaModFix/>
            </a:blip>
            <a:srcRect b="19361" l="13940" r="13940" t="19367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3" name="Google Shape;553;g3b0583c252b_0_1"/>
          <p:cNvSpPr/>
          <p:nvPr/>
        </p:nvSpPr>
        <p:spPr>
          <a:xfrm>
            <a:off x="-2720" y="6663074"/>
            <a:ext cx="12215400" cy="243900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4" name="Google Shape;554;g3b0583c252b_0_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0625" y="2419926"/>
            <a:ext cx="9451549" cy="37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5"/>
          <p:cNvSpPr txBox="1"/>
          <p:nvPr>
            <p:ph idx="1" type="body"/>
          </p:nvPr>
        </p:nvSpPr>
        <p:spPr>
          <a:xfrm>
            <a:off x="482075" y="3014850"/>
            <a:ext cx="6069000" cy="3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 txBox="1"/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50"/>
              <a:buFont typeface="Microsoft YaHei"/>
              <a:buNone/>
            </a:pPr>
            <a:r>
              <a:rPr b="1" lang="en-US" sz="335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Conclusion and Futurework</a:t>
            </a:r>
            <a:endParaRPr b="1" sz="335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62" name="Google Shape;5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654" y="502466"/>
            <a:ext cx="1934776" cy="153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15"/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descr="Picture 7" id="564" name="Google Shape;56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9" id="565" name="Google Shape;565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15"/>
            <p:cNvPicPr preferRelativeResize="0"/>
            <p:nvPr/>
          </p:nvPicPr>
          <p:blipFill rotWithShape="1">
            <a:blip r:embed="rId7">
              <a:alphaModFix/>
            </a:blip>
            <a:srcRect b="19365" l="13941" r="13941" t="19365"/>
            <a:stretch/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8" name="Google Shape;568;p15"/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15" title="Gemini_Generated_Image_hkoh7ahkoh7ahkoh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96424" y="2980200"/>
            <a:ext cx="5871176" cy="320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6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E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EFF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7" id="575" name="Google Shape;5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332" y="387946"/>
            <a:ext cx="1172345" cy="572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9" id="576" name="Google Shape;5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0126" y="295810"/>
            <a:ext cx="959441" cy="733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77" name="Google Shape;5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74078" y="103953"/>
            <a:ext cx="526003" cy="1065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sted-movie.png" id="578" name="Google Shape;578;p16"/>
          <p:cNvPicPr preferRelativeResize="0"/>
          <p:nvPr/>
        </p:nvPicPr>
        <p:blipFill rotWithShape="1">
          <a:blip r:embed="rId6">
            <a:alphaModFix/>
          </a:blip>
          <a:srcRect b="19365" l="13941" r="13941" t="19365"/>
          <a:stretch/>
        </p:blipFill>
        <p:spPr>
          <a:xfrm>
            <a:off x="7968564" y="251012"/>
            <a:ext cx="907559" cy="771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79" name="Google Shape;57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7704" y="2355271"/>
            <a:ext cx="2919045" cy="2837091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6"/>
          <p:cNvSpPr txBox="1"/>
          <p:nvPr>
            <p:ph idx="4294967295" type="ctrTitle"/>
          </p:nvPr>
        </p:nvSpPr>
        <p:spPr>
          <a:xfrm>
            <a:off x="4352098" y="2352844"/>
            <a:ext cx="4403897" cy="3307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Microsoft YaHe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Thank you!</a:t>
            </a:r>
            <a:endParaRPr b="1" i="0" sz="80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Image" id="581" name="Google Shape;58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603668" y="647699"/>
            <a:ext cx="5015131" cy="702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